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8"/>
                </a:solidFill>
                <a:latin typeface="Calibri"/>
              </a:rPr>
              <a:t>01 /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1457432" cy="41148"/>
          </a:xfrm>
          <a:prstGeom prst="rect">
            <a:avLst/>
          </a:prstGeom>
          <a:solidFill>
            <a:srgbClr val="1A1A18"/>
          </a:solidFill>
          <a:ln w="6350">
            <a:solidFill>
              <a:srgbClr val="1A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8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PROBLEM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330451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280160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BTC price is highly volatile — next-day direction is difficult to anticipate from price alone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1677923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627631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Most retail participants have no systematic signal; decisions are largely reactive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025395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975103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Standard statistical models struggle on non-stationary financial time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0515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1330451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5" y="1280160"/>
            <a:ext cx="5449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Predict next-day BTC/USD price direction (up or down) using ML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1677923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5" y="1627631"/>
            <a:ext cx="5449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Compare regression and classification models on the same dataset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2025395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5" y="1975103"/>
            <a:ext cx="5449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Build a live dashboard that translates model output into an actionable signal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0" y="2372868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5" y="2322575"/>
            <a:ext cx="5449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Identify which technical indicators carry the most predictive weight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94960"/>
            <a:ext cx="1815084" cy="201168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185FA5"/>
                </a:solidFill>
                <a:latin typeface="Calibri"/>
              </a:rPr>
              <a:t>Binary 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8004" y="5394960"/>
            <a:ext cx="1037844" cy="201168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185FA5"/>
                </a:solidFill>
                <a:latin typeface="Calibri"/>
              </a:rPr>
              <a:t>Log returns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5394960"/>
            <a:ext cx="1271016" cy="201168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185FA5"/>
                </a:solidFill>
                <a:latin typeface="Calibri"/>
              </a:rPr>
              <a:t>Time-series CV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01184" y="5394960"/>
            <a:ext cx="1193292" cy="201168"/>
          </a:xfrm>
          <a:prstGeom prst="rect">
            <a:avLst/>
          </a:prstGeom>
          <a:solidFill>
            <a:srgbClr val="FAEEDA"/>
          </a:solidFill>
          <a:ln>
            <a:solidFill>
              <a:srgbClr val="FAE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854F0B"/>
                </a:solidFill>
                <a:latin typeface="Calibri"/>
              </a:rPr>
              <a:t>No look-ahead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8"/>
                </a:solidFill>
                <a:latin typeface="Calibri"/>
              </a:rPr>
              <a:t>02 /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1457432" cy="41148"/>
          </a:xfrm>
          <a:prstGeom prst="rect">
            <a:avLst/>
          </a:prstGeom>
          <a:solidFill>
            <a:srgbClr val="1A1A18"/>
          </a:solidFill>
          <a:ln w="6350">
            <a:solidFill>
              <a:srgbClr val="1A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8"/>
                </a:solidFill>
                <a:latin typeface="Calibri"/>
              </a:rPr>
              <a:t>Dataset, EDA &amp;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35661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A1A18"/>
                </a:solidFill>
                <a:latin typeface="Calibr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6B68"/>
                </a:solidFill>
                <a:latin typeface="Calibri"/>
              </a:rPr>
              <a:t>1-minute OHLCV, BTC/USD
aggregated to daily bars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051560"/>
            <a:ext cx="35661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15568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A1A18"/>
                </a:solidFill>
                <a:latin typeface="Calibri"/>
              </a:rPr>
              <a:t>Train / test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6B68"/>
                </a:solidFill>
                <a:latin typeface="Calibri"/>
              </a:rPr>
              <a:t>80 / 20 (time-ordered)
3,576 train · 895 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051560"/>
            <a:ext cx="3931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11556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A1A18"/>
                </a:solidFill>
                <a:latin typeface="Calibri"/>
              </a:rPr>
              <a:t>Target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6B68"/>
                </a:solidFill>
                <a:latin typeface="Calibri"/>
              </a:rPr>
              <a:t>y = sign(log return)
1 if next-day return &gt; 0, else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11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PREPROCESSING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1691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3042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1A1A18"/>
                </a:solidFill>
                <a:latin typeface="Calibri"/>
              </a:rPr>
              <a:t>Raw 1-min OHLCV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28600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6B68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2240280"/>
            <a:ext cx="1691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0552" y="23042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1A1A18"/>
                </a:solidFill>
                <a:latin typeface="Calibri"/>
              </a:rPr>
              <a:t>Daily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28600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6B68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2240280"/>
            <a:ext cx="1691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2191" y="23042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1A1A18"/>
                </a:solidFill>
                <a:latin typeface="Calibri"/>
              </a:rPr>
              <a:t>ADF stationarity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228600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6B68"/>
                </a:solidFill>
                <a:latin typeface="Calibr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79" y="2240280"/>
            <a:ext cx="1691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3831" y="23042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1A1A18"/>
                </a:solidFill>
                <a:latin typeface="Calibri"/>
              </a:rPr>
              <a:t>Log returns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599" y="228600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6B68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19" y="2240280"/>
            <a:ext cx="1691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1" y="23042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1A1A18"/>
                </a:solidFill>
                <a:latin typeface="Calibri"/>
              </a:rPr>
              <a:t>20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39" y="228600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6B68"/>
                </a:solidFill>
                <a:latin typeface="Calibr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59" y="2240280"/>
            <a:ext cx="1691640" cy="411480"/>
          </a:xfrm>
          <a:prstGeom prst="rect">
            <a:avLst/>
          </a:prstGeom>
          <a:solidFill>
            <a:srgbClr val="185FA5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97111" y="23042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TimeSeriesSplit (5 folds)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29260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BASE INDICATORS (10)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154680"/>
            <a:ext cx="804672" cy="201168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185FA5"/>
                </a:solidFill>
                <a:latin typeface="Calibri"/>
              </a:rPr>
              <a:t>EMA 9/21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07592" y="3154680"/>
            <a:ext cx="493776" cy="201168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185FA5"/>
                </a:solidFill>
                <a:latin typeface="Calibri"/>
              </a:rPr>
              <a:t>MACD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38528" y="3154680"/>
            <a:ext cx="649224" cy="201168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185FA5"/>
                </a:solidFill>
                <a:latin typeface="Calibri"/>
              </a:rPr>
              <a:t>RSI 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24912" y="3154680"/>
            <a:ext cx="571500" cy="201168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185FA5"/>
                </a:solidFill>
                <a:latin typeface="Calibri"/>
              </a:rPr>
              <a:t>MOM10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33572" y="3154680"/>
            <a:ext cx="649224" cy="201168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185FA5"/>
                </a:solidFill>
                <a:latin typeface="Calibri"/>
              </a:rPr>
              <a:t>PROC10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19956" y="3154680"/>
            <a:ext cx="804672" cy="201168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185FA5"/>
                </a:solidFill>
                <a:latin typeface="Calibri"/>
              </a:rPr>
              <a:t>StochK14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61788" y="3154680"/>
            <a:ext cx="416052" cy="201168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185FA5"/>
                </a:solidFill>
                <a:latin typeface="Calibri"/>
              </a:rPr>
              <a:t>OBV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15000" y="3154680"/>
            <a:ext cx="416052" cy="201168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185FA5"/>
                </a:solidFill>
                <a:latin typeface="Calibri"/>
              </a:rPr>
              <a:t>ATR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36118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EXTENDED FEATURES (10)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840480"/>
            <a:ext cx="1348740" cy="201168"/>
          </a:xfrm>
          <a:prstGeom prst="rect">
            <a:avLst/>
          </a:prstGeom>
          <a:solidFill>
            <a:srgbClr val="EAF3DE"/>
          </a:solidFill>
          <a:ln>
            <a:solidFill>
              <a:srgbClr val="EA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3B6D11"/>
                </a:solidFill>
                <a:latin typeface="Calibri"/>
              </a:rPr>
              <a:t>Lag returns 1–5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51660" y="3840480"/>
            <a:ext cx="804672" cy="201168"/>
          </a:xfrm>
          <a:prstGeom prst="rect">
            <a:avLst/>
          </a:prstGeom>
          <a:solidFill>
            <a:srgbClr val="EAF3DE"/>
          </a:solidFill>
          <a:ln>
            <a:solidFill>
              <a:srgbClr val="EA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3B6D11"/>
                </a:solidFill>
                <a:latin typeface="Calibri"/>
              </a:rPr>
              <a:t>ATR norm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93491" y="3840480"/>
            <a:ext cx="571500" cy="201168"/>
          </a:xfrm>
          <a:prstGeom prst="rect">
            <a:avLst/>
          </a:prstGeom>
          <a:solidFill>
            <a:srgbClr val="EAF3DE"/>
          </a:solidFill>
          <a:ln>
            <a:solidFill>
              <a:srgbClr val="EA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3B6D11"/>
                </a:solidFill>
                <a:latin typeface="Calibri"/>
              </a:rPr>
              <a:t>BB %B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02151" y="3840480"/>
            <a:ext cx="1426464" cy="201168"/>
          </a:xfrm>
          <a:prstGeom prst="rect">
            <a:avLst/>
          </a:prstGeom>
          <a:solidFill>
            <a:srgbClr val="EAF3DE"/>
          </a:solidFill>
          <a:ln>
            <a:solidFill>
              <a:srgbClr val="EA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3B6D11"/>
                </a:solidFill>
                <a:latin typeface="Calibri"/>
              </a:rPr>
              <a:t>52-week position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65775" y="3840480"/>
            <a:ext cx="882396" cy="201168"/>
          </a:xfrm>
          <a:prstGeom prst="rect">
            <a:avLst/>
          </a:prstGeom>
          <a:solidFill>
            <a:srgbClr val="EAF3DE"/>
          </a:solidFill>
          <a:ln>
            <a:solidFill>
              <a:srgbClr val="EA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3B6D11"/>
                </a:solidFill>
                <a:latin typeface="Calibri"/>
              </a:rPr>
              <a:t>Vol ratio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5331" y="3840480"/>
            <a:ext cx="649224" cy="201168"/>
          </a:xfrm>
          <a:prstGeom prst="rect">
            <a:avLst/>
          </a:prstGeom>
          <a:solidFill>
            <a:srgbClr val="EAF3DE"/>
          </a:solidFill>
          <a:ln>
            <a:solidFill>
              <a:srgbClr val="EA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>
                <a:solidFill>
                  <a:srgbClr val="3B6D11"/>
                </a:solidFill>
                <a:latin typeface="Calibri"/>
              </a:rPr>
              <a:t>Streak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5720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KEY NOTES</a:t>
            </a:r>
          </a:p>
        </p:txBody>
      </p:sp>
      <p:sp>
        <p:nvSpPr>
          <p:cNvPr id="49" name="Oval 48"/>
          <p:cNvSpPr/>
          <p:nvPr/>
        </p:nvSpPr>
        <p:spPr>
          <a:xfrm>
            <a:off x="365760" y="4850892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4800600"/>
            <a:ext cx="11301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All features use shift(1) — strictly no look-ahead into future data</a:t>
            </a:r>
          </a:p>
        </p:txBody>
      </p:sp>
      <p:sp>
        <p:nvSpPr>
          <p:cNvPr id="51" name="Oval 50"/>
          <p:cNvSpPr/>
          <p:nvPr/>
        </p:nvSpPr>
        <p:spPr>
          <a:xfrm>
            <a:off x="365760" y="5198364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3776" y="5148072"/>
            <a:ext cx="11301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ADF test confirmed log returns are stationary (p &lt; 0.01)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8"/>
                </a:solidFill>
                <a:latin typeface="Calibri"/>
              </a:rPr>
              <a:t>03 /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1457432" cy="41148"/>
          </a:xfrm>
          <a:prstGeom prst="rect">
            <a:avLst/>
          </a:prstGeom>
          <a:solidFill>
            <a:srgbClr val="1A1A18"/>
          </a:solidFill>
          <a:ln w="6350">
            <a:solidFill>
              <a:srgbClr val="1A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8"/>
                </a:solidFill>
                <a:latin typeface="Calibri"/>
              </a:rPr>
              <a:t>Methodology &amp;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REGRESSION MODELS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330451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280160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Persistence baseline — naive carry-forward (lower bound)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1677923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627631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Linear regression, Ridge, Lasso — regularised OLS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025395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975103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XGBoost regressor — gradient boosted trees, RMSE target, 8-param grid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CLASSIFICATION MODELS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2793492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743200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Majority class baseline — always predicts the more frequent class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3140964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090672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Logistic regression — L2, C tuned via GridSearchCV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3488436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3438144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Random forest — 100 estimators, limited depth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" y="3835907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3785615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XGBoost classifier — same grid as regressor, logloss eval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" y="4183379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4133087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Ensemble — XGBoost + Logistic averaged probability, majority vote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0515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KEY DESIGN DECISIONS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28016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344168"/>
            <a:ext cx="5120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A1A18"/>
                </a:solidFill>
                <a:latin typeface="Calibri"/>
              </a:rPr>
              <a:t>TimeSeriesSplit cross-validation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600200"/>
            <a:ext cx="51206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6B68"/>
                </a:solidFill>
                <a:latin typeface="Calibri"/>
              </a:rPr>
              <a:t>5 folds, strictly forward — no leakage across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24028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304288"/>
            <a:ext cx="5120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A1A18"/>
                </a:solidFill>
                <a:latin typeface="Calibri"/>
              </a:rPr>
              <a:t>Threshold optimisation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560320"/>
            <a:ext cx="51206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6B68"/>
                </a:solidFill>
                <a:latin typeface="Calibri"/>
              </a:rPr>
              <a:t>Decision boundary searched 0.40–0.65 on held-out 20% of 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20040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264408"/>
            <a:ext cx="5120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A1A18"/>
                </a:solidFill>
                <a:latin typeface="Calibri"/>
              </a:rPr>
              <a:t>High-confidence filtering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520440"/>
            <a:ext cx="51206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6B68"/>
                </a:solidFill>
                <a:latin typeface="Calibri"/>
              </a:rPr>
              <a:t>Signals reported separately when model probability exceeds 60%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6052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224528"/>
            <a:ext cx="5120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A1A18"/>
                </a:solidFill>
                <a:latin typeface="Calibri"/>
              </a:rPr>
              <a:t>Ensemble averaging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480560"/>
            <a:ext cx="51206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6B68"/>
                </a:solidFill>
                <a:latin typeface="Calibri"/>
              </a:rPr>
              <a:t>XGBoost + Logistic probabilities averaged before thresholding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8"/>
                </a:solidFill>
                <a:latin typeface="Calibri"/>
              </a:rPr>
              <a:t>04 /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1457432" cy="41148"/>
          </a:xfrm>
          <a:prstGeom prst="rect">
            <a:avLst/>
          </a:prstGeom>
          <a:solidFill>
            <a:srgbClr val="1A1A18"/>
          </a:solidFill>
          <a:ln w="6350">
            <a:solidFill>
              <a:srgbClr val="1A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8"/>
                </a:solidFill>
                <a:latin typeface="Calibri"/>
              </a:rPr>
              <a:t>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CLASSIFICATION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Random forest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40" y="1316736"/>
            <a:ext cx="2524658" cy="128016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6850" y="12801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50.2%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7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Majority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700784"/>
            <a:ext cx="2574950" cy="128016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142" y="1664207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51.2%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48255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XGBoost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2084831"/>
            <a:ext cx="2605125" cy="128016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7317" y="2048255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51.8%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3230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Logistic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2468880"/>
            <a:ext cx="2635300" cy="128016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7492" y="24323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52.4%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163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85FA5"/>
                </a:solidFill>
                <a:latin typeface="Calibri"/>
              </a:rPr>
              <a:t>Ensemble (XGB + LR)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852928"/>
            <a:ext cx="2690622" cy="12801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2814" y="281635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85FA5"/>
                </a:solidFill>
                <a:latin typeface="Calibri"/>
              </a:rPr>
              <a:t>53.5%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0515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REGRESSION — RMSE ON LOG 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Persistence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0.03628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66420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Linear regression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166420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0.02537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04825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04825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0.02534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432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4323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0.02509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8163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85FA5"/>
                </a:solidFill>
                <a:latin typeface="Calibri"/>
              </a:rPr>
              <a:t>Lasso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16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85FA5"/>
                </a:solidFill>
                <a:latin typeface="Calibri"/>
              </a:rPr>
              <a:t>0.02490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65760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12463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85FA5"/>
                </a:solidFill>
                <a:latin typeface="Calibri"/>
              </a:rPr>
              <a:t>53.5%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4164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B68"/>
                </a:solidFill>
                <a:latin typeface="Calibri"/>
              </a:rPr>
              <a:t>Best accuracy — Ensemble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365760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712463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A1A18"/>
                </a:solidFill>
                <a:latin typeface="Calibri"/>
              </a:rPr>
              <a:t>59.9%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404164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B68"/>
                </a:solidFill>
                <a:latin typeface="Calibri"/>
              </a:rPr>
              <a:t>Precision on UP predictions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65760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712463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A1A18"/>
                </a:solidFill>
                <a:latin typeface="Calibri"/>
              </a:rPr>
              <a:t>51.0%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04164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B68"/>
                </a:solidFill>
                <a:latin typeface="Calibri"/>
              </a:rPr>
              <a:t>High-conf accuracy (&gt;60% prob)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365760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12463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A1A18"/>
                </a:solidFill>
                <a:latin typeface="Calibri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04164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B68"/>
                </a:solidFill>
                <a:latin typeface="Calibri"/>
              </a:rPr>
              <a:t>Features used in best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617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6B68"/>
                </a:solidFill>
                <a:latin typeface="Calibri"/>
              </a:rPr>
              <a:t>BTC next-day direction is near-random — 53–54% is consistent with published ML results on efficient crypto markets. The Ensemble's 59.9% precision on UP calls is the most actionable metric for a directional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8"/>
                </a:solidFill>
                <a:latin typeface="Calibri"/>
              </a:rPr>
              <a:t>05 /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1457432" cy="41148"/>
          </a:xfrm>
          <a:prstGeom prst="rect">
            <a:avLst/>
          </a:prstGeom>
          <a:solidFill>
            <a:srgbClr val="1A1A18"/>
          </a:solidFill>
          <a:ln w="6350">
            <a:solidFill>
              <a:srgbClr val="1A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8"/>
                </a:solidFill>
                <a:latin typeface="Calibri"/>
              </a:rPr>
              <a:t>Demo, conclusions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DASHBOARD BUILT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330451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280160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React + Recharts frontend — live price chart with gradient area fill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1677923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627631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Split-screen: price chart left, ML signal panel right (UP / DOWN with confidence)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025395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975103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Composite signal −7 to +7 from RSI, MACD, EMA21, momentum, ML probability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2372868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322575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Flask REST API — 7 endpoints: metrics, predictions, feature importance, advisor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54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CONCLUSIONS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3433572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383280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No single model dominates — ensemble averaging reduces variance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3781044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3730752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Lag returns and ATR are the top two predictors; RSI and BB %B follow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" y="4128515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4078224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Market efficiency caps accuracy; high-confidence filtering is a practical workaround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0515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TOP FEATURES BY IMPORTANCE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280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lag_return_1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1335024"/>
            <a:ext cx="708842" cy="914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7274" y="1280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8"/>
                </a:solidFill>
                <a:latin typeface="Calibri"/>
              </a:rPr>
              <a:t>0.0646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45919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atr_norm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1700784"/>
            <a:ext cx="657270" cy="914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5702" y="1645919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8"/>
                </a:solidFill>
                <a:latin typeface="Calibri"/>
              </a:rPr>
              <a:t>0.0599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0116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RSI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066544"/>
            <a:ext cx="639714" cy="914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146" y="20116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8"/>
                </a:solidFill>
                <a:latin typeface="Calibri"/>
              </a:rPr>
              <a:t>0.0583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3774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bb_pct_b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2432304"/>
            <a:ext cx="636422" cy="914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4854" y="23774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8"/>
                </a:solidFill>
                <a:latin typeface="Calibri"/>
              </a:rPr>
              <a:t>0.0580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743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streak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2798064"/>
            <a:ext cx="625449" cy="914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3881" y="27432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8"/>
                </a:solidFill>
                <a:latin typeface="Calibri"/>
              </a:rPr>
              <a:t>0.0570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Volume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3163824"/>
            <a:ext cx="604601" cy="914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33033" y="31089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8"/>
                </a:solidFill>
                <a:latin typeface="Calibri"/>
              </a:rPr>
              <a:t>0.0551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474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lag_return_2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3529584"/>
            <a:ext cx="585947" cy="914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14379" y="34747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8"/>
                </a:solidFill>
                <a:latin typeface="Calibri"/>
              </a:rPr>
              <a:t>0.0534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1148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B6B68"/>
                </a:solidFill>
                <a:latin typeface="Calibri"/>
              </a:rPr>
              <a:t>FUTURE WORK</a:t>
            </a:r>
          </a:p>
        </p:txBody>
      </p:sp>
      <p:sp>
        <p:nvSpPr>
          <p:cNvPr id="44" name="Oval 43"/>
          <p:cNvSpPr/>
          <p:nvPr/>
        </p:nvSpPr>
        <p:spPr>
          <a:xfrm>
            <a:off x="6217920" y="4393692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45936" y="4343400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Incorporate on-chain data — active addresses, exchange flows</a:t>
            </a:r>
          </a:p>
        </p:txBody>
      </p:sp>
      <p:sp>
        <p:nvSpPr>
          <p:cNvPr id="46" name="Oval 45"/>
          <p:cNvSpPr/>
          <p:nvPr/>
        </p:nvSpPr>
        <p:spPr>
          <a:xfrm>
            <a:off x="6217920" y="4741164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45936" y="4690872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Sentiment features from news headlines or social volume</a:t>
            </a:r>
          </a:p>
        </p:txBody>
      </p:sp>
      <p:sp>
        <p:nvSpPr>
          <p:cNvPr id="48" name="Oval 47"/>
          <p:cNvSpPr/>
          <p:nvPr/>
        </p:nvSpPr>
        <p:spPr>
          <a:xfrm>
            <a:off x="6217920" y="5088636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45936" y="5038344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Walk-forward retraining on a rolling window</a:t>
            </a:r>
          </a:p>
        </p:txBody>
      </p:sp>
      <p:sp>
        <p:nvSpPr>
          <p:cNvPr id="50" name="Oval 49"/>
          <p:cNvSpPr/>
          <p:nvPr/>
        </p:nvSpPr>
        <p:spPr>
          <a:xfrm>
            <a:off x="6217920" y="5436107"/>
            <a:ext cx="54864" cy="54864"/>
          </a:xfrm>
          <a:prstGeom prst="ellipse">
            <a:avLst/>
          </a:prstGeom>
          <a:solidFill>
            <a:srgbClr val="6B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5936" y="5385816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8"/>
                </a:solidFill>
                <a:latin typeface="Calibri"/>
              </a:rPr>
              <a:t>Backtested P&amp;L to validate signal quality beyond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